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947186dfee45fa" /><Relationship Type="http://schemas.openxmlformats.org/officeDocument/2006/relationships/extended-properties" Target="/docProps/app.xml" Id="R123980afaad74dc0" /><Relationship Type="http://schemas.openxmlformats.org/officeDocument/2006/relationships/officeDocument" Target="/ppt/presentation.xml" Id="Rd4f82de3526d47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465178ecc948b4"/>
  </p:sldMasterIdLst>
  <p:notesMasterIdLst>
    <p:notesMasterId xmlns:r="http://schemas.openxmlformats.org/officeDocument/2006/relationships" r:id="R5fb3479e131b49b1"/>
  </p:notesMasterIdLst>
  <p:sldIdLst>
    <p:sldId xmlns:r="http://schemas.openxmlformats.org/officeDocument/2006/relationships" id="256" r:id="Rb72876b29608420a"/>
    <p:sldId xmlns:r="http://schemas.openxmlformats.org/officeDocument/2006/relationships" id="257" r:id="R6dcada1cc2164504"/>
    <p:sldId xmlns:r="http://schemas.openxmlformats.org/officeDocument/2006/relationships" id="258" r:id="Rfcfcdd42a45a44ea"/>
    <p:sldId xmlns:r="http://schemas.openxmlformats.org/officeDocument/2006/relationships" id="259" r:id="R1e3119a2cf63476c"/>
    <p:sldId xmlns:r="http://schemas.openxmlformats.org/officeDocument/2006/relationships" id="260" r:id="Rf285530e525d4a8b"/>
    <p:sldId xmlns:r="http://schemas.openxmlformats.org/officeDocument/2006/relationships" id="261" r:id="R73db268f846d45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0ea542d0274cb1" /><Relationship Type="http://schemas.openxmlformats.org/officeDocument/2006/relationships/slideMaster" Target="/ppt/slideMasters/slideMaster1.xml" Id="R26465178ecc948b4" /><Relationship Type="http://schemas.openxmlformats.org/officeDocument/2006/relationships/notesMaster" Target="/ppt/notesMasters/notesMaster1.xml" Id="R5fb3479e131b49b1" /><Relationship Type="http://schemas.openxmlformats.org/officeDocument/2006/relationships/presProps" Target="/ppt/presProps.xml" Id="Rb8f1c95544404b41" /><Relationship Type="http://schemas.openxmlformats.org/officeDocument/2006/relationships/tableStyles" Target="/ppt/tableStyles.xml" Id="R1f10d0a492ab41df" /><Relationship Type="http://schemas.openxmlformats.org/officeDocument/2006/relationships/slide" Target="/ppt/slides/slide1.xml" Id="Rb72876b29608420a" /><Relationship Type="http://schemas.openxmlformats.org/officeDocument/2006/relationships/slide" Target="/ppt/slides/slide2.xml" Id="R6dcada1cc2164504" /><Relationship Type="http://schemas.openxmlformats.org/officeDocument/2006/relationships/slide" Target="/ppt/slides/slide3.xml" Id="Rfcfcdd42a45a44ea" /><Relationship Type="http://schemas.openxmlformats.org/officeDocument/2006/relationships/slide" Target="/ppt/slides/slide4.xml" Id="R1e3119a2cf63476c" /><Relationship Type="http://schemas.openxmlformats.org/officeDocument/2006/relationships/slide" Target="/ppt/slides/slide5.xml" Id="Rf285530e525d4a8b" /><Relationship Type="http://schemas.openxmlformats.org/officeDocument/2006/relationships/slide" Target="/ppt/slides/slide6.xml" Id="R73db268f846d45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d07c0a18654c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b87a24884e4ba0" /><Relationship Type="http://schemas.openxmlformats.org/officeDocument/2006/relationships/notesMaster" Target="/ppt/notesMasters/notesMaster1.xml" Id="Re80b0004598548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57c5f8ab964ebc" /><Relationship Type="http://schemas.openxmlformats.org/officeDocument/2006/relationships/notesMaster" Target="/ppt/notesMasters/notesMaster1.xml" Id="R53d7b809726d48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07f23a17d84740" /><Relationship Type="http://schemas.openxmlformats.org/officeDocument/2006/relationships/notesMaster" Target="/ppt/notesMasters/notesMaster1.xml" Id="Re63fc6a5da2b47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1b18a2b20d490e" /><Relationship Type="http://schemas.openxmlformats.org/officeDocument/2006/relationships/notesMaster" Target="/ppt/notesMasters/notesMaster1.xml" Id="R3e968daab55940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427f2264b94c81" /><Relationship Type="http://schemas.openxmlformats.org/officeDocument/2006/relationships/notesMaster" Target="/ppt/notesMasters/notesMaster1.xml" Id="R0ca2b9cfe7b646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3882b8eb784ae4" /><Relationship Type="http://schemas.openxmlformats.org/officeDocument/2006/relationships/notesMaster" Target="/ppt/notesMasters/notesMaster1.xml" Id="R72ef3cb21aec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Carewell Health is a Java web application project for appointment booking, written consultations, and health record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roles and workflows are based on the supplied project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Architecture: React/Vite browser frontend → Spring Boot REST API. The API persists domain entities through Spring Data JPA and runs SQL-based admin counts through JdbcTemplate. Embedded Tomcat serves Spring MVC and the PlatformStatusServlet endpoint.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JDBC evidence is JdbcTemplate, Spring’s JDBC abstraction, using parameterized SQL. Servlet evidence is a directly registered HttpServlet in embedded Tomcat.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appointment lifecycle starts with an open professional availability slot and ends with a completed appointment containing written advice and an optional consultation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local MVP starter. Demo credentials are documented in the README. Database persistence is local to the backend working directory.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0d1f7854eb48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64bfd2be884627" /><Relationship Type="http://schemas.openxmlformats.org/officeDocument/2006/relationships/slideLayout" Target="/ppt/slideLayouts/slideLayout1.xml" Id="R344abd39fdc44c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4abd39fdc44c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76ff42e0a45b1" /><Relationship Type="http://schemas.openxmlformats.org/officeDocument/2006/relationships/notesSlide" Target="/ppt/notesSlides/notesSlide1.xml" Id="R7dd98926ae2e48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798d36a57458a" /><Relationship Type="http://schemas.openxmlformats.org/officeDocument/2006/relationships/notesSlide" Target="/ppt/notesSlides/notesSlide2.xml" Id="Re98c9705a67e42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d0a26192a4a62" /><Relationship Type="http://schemas.openxmlformats.org/officeDocument/2006/relationships/notesSlide" Target="/ppt/notesSlides/notesSlide3.xml" Id="R13ba296cd29040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097af892d4b5d" /><Relationship Type="http://schemas.openxmlformats.org/officeDocument/2006/relationships/notesSlide" Target="/ppt/notesSlides/notesSlide4.xml" Id="R1919ccc791c540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de559066f4a12" /><Relationship Type="http://schemas.openxmlformats.org/officeDocument/2006/relationships/notesSlide" Target="/ppt/notesSlides/notesSlide5.xml" Id="Rdb4c7100f70e49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640bc8cce416c" /><Relationship Type="http://schemas.openxmlformats.org/officeDocument/2006/relationships/notesSlide" Target="/ppt/notesSlides/notesSlide6.xml" Id="Rfa61b082eceb4c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6B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B7BC6-73AA-4B14-B52F-8F6DE1E8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0B39A-CBE7-46B4-8BFD-8BBDC466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2E6D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2E6DA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1E975-FC12-48FF-B174-82D3FD40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429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Carewell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16F6A-79EB-4776-8DA3-E537E535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666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2E6D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2E6DA"/>
                </a:solidFill>
                <a:latin typeface="Arial"/>
                <a:ea typeface="Arial"/>
                <a:cs typeface="Arial"/>
              </a:rPr>
              <a:t>Online health consultation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41D8F-FBDF-4271-9CB2-CED7C621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114E0-71DF-47EC-BFB5-CF6F16BA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+ Vite  ·  Java 21 / Spring Boot  ·  H2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2B624-5648-445C-9159-81CA5CF1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2E6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2E6DA"/>
                </a:solidFill>
                <a:latin typeface="Arial"/>
                <a:ea typeface="Arial"/>
                <a:cs typeface="Arial"/>
              </a:rPr>
              <a:t>Appointments, care records and role-based dashboards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9F849-DA70-4D0D-ADCF-9F5290DA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19250"/>
            <a:ext cx="2714625" cy="33337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2B7965"/>
          </a:solidFill>
          <a:ln xmlns:a="http://schemas.openxmlformats.org/drawingml/2006/main" w="9525">
            <a:solidFill>
              <a:srgbClr val="4D92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62527D-FE38-4D0E-9441-BC3DAB0E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DEB73"/>
                </a:solidFill>
                <a:latin typeface="Arial"/>
                <a:ea typeface="Arial"/>
                <a:cs typeface="Arial"/>
              </a:rPr>
              <a:t>PATIENT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C78F2-A20B-4F2F-8503-8D4CEFA7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 a visit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AFE37-33CE-4B77-8E19-7B13C789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5750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9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EB8CE-38B4-44FF-B2A9-EB7FC702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051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DEB73"/>
                </a:solidFill>
                <a:latin typeface="Arial"/>
                <a:ea typeface="Arial"/>
                <a:cs typeface="Arial"/>
              </a:rPr>
              <a:t>PROFESSIONAL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2B13F-4A80-4BEE-BB0D-3617966C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766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Provide care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E7EA1-B9B8-4CBE-82FA-5BADC069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0050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A9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E6B9F-96BF-4A65-A843-3C6B3E10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EB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DEB73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530E3-CD8D-45FD-AC1F-2317B2C6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the platform</a:t>
            </a:r>
          </a:p>
        </p:txBody>
      </p:sp>
    </p:spTree>
    <p:extLst>
      <p:ext uri="{BB962C8B-B14F-4D97-AF65-F5344CB8AC3E}">
        <p14:creationId xmlns:p14="http://schemas.microsoft.com/office/powerpoint/2010/main" val="1836531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B3C5A-FBDA-4089-B5DA-2AAD48F9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CAREWELL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E8EE1-C4A2-471C-96CD-1C591BFD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Problem and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29A86-D294-427C-AC62-1F190BDE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FB7C0-B0B8-444E-B3D0-8C2AC80A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The project organizes three connected care workflows in one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E4D39-EFAB-45FA-BE5B-7ABA40AF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4FF4D-F0EB-48B0-AF68-DBD7ED69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C455C-B347-430D-8483-965EF7E5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5479D0-0697-4F00-9213-60545B01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00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Create an account, book an open appointment, manage personal records, and review written advice.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988AE-6252-4496-AAE7-B8541F3F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3495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49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618DA-1303-4163-8681-E6DD0AEA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651F9-8463-4F27-A1F9-6229E767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00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Professionals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69BA93-2380-4C9D-B518-F7CCB053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86125"/>
            <a:ext cx="300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Publish availability, review booked visits, add consultation notes, and access records for patients in their care.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F0E3B-7E4B-4D43-8DA3-D4389043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E6A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E6A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38F56-FD56-41C7-BFC1-0FE0CA4F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6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0D8F3-EA55-438F-AAC8-6EDC132F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Administrators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5A3C7-379B-480A-B5B2-C8A8CCBC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300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Manage users and appointment status, configure clinic settings, and view usage totals.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B7B49-DB90-4BAC-A326-885B0720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1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Consultations use appointment slots and written advice; live video and patient messaging are not part of this MVP.</a:t>
            </a:r>
          </a:p>
        </p:txBody>
      </p:sp>
    </p:spTree>
    <p:extLst>
      <p:ext uri="{BB962C8B-B14F-4D97-AF65-F5344CB8AC3E}">
        <p14:creationId xmlns:p14="http://schemas.microsoft.com/office/powerpoint/2010/main" val="1767019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9202C7-62E6-48BD-96EE-70D734AF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CAREWELL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C93E7-932F-4FE3-87E4-A4585E83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C0E1B-5036-436D-A0DB-6B187253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08224-41BE-4BC0-A594-05526A96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A browser client calls the Java API; both JPA and JDBC use the same local H2 database.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35F52-1AE7-4B75-A8DB-6D35EE1D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2476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61F53-4F1B-4388-ABCD-EC5D8277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54E2D-8CB2-4A54-A5F3-A4B2491F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4317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8DE4C-D923-453F-A09E-C8706320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05125"/>
            <a:ext cx="2076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Role-based screens</a:t>
            </a:r>
          </a:p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Patient · Professional · Admin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3A894-311C-4EE1-8E07-08E216F0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9525">
            <a:solidFill>
              <a:srgbClr val="D8E4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AE719-D4B4-4512-BCD9-E8752BAE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E6CB6-1939-4683-B76F-0293CC3E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57425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Spring Boot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FF561-EE56-42E8-90A2-AA9658EC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19375"/>
            <a:ext cx="26003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REST controllers</a:t>
            </a:r>
          </a:p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Session and role checks</a:t>
            </a:r>
          </a:p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Validation and 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DEECF7-88AA-4C06-8CD0-AB1E29CD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667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A36E5-85C5-4C6F-9E2C-0D0E6EA8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6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0B69D-2CCD-4ECB-A53D-05EE13AB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7167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Spring Data JPA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0DE5D-0BB8-45BB-B1D0-4667DE78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33625"/>
            <a:ext cx="22669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Domain CRUD</a:t>
            </a:r>
          </a:p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Users · appointments · records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72610F-056D-4980-A4B7-49A30E5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E3877-0746-4B6D-BF82-12690912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754BE-0F35-429F-B127-E9F3DB5F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338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JdbcTemplate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A374B-38A3-4F1D-9798-7581C293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957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Parameterized SQL</a:t>
            </a:r>
          </a:p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Admin analytics counts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8756A-B282-4A48-9AF5-66EE63A6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9700"/>
            <a:ext cx="266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BF3EA"/>
          </a:solidFill>
          <a:ln xmlns:a="http://schemas.openxmlformats.org/drawingml/2006/main" w="9525">
            <a:solidFill>
              <a:srgbClr val="D8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7015E-CE6A-413E-B79E-A3FB5C15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197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5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90532-8663-468A-A3FF-C5C5627A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38162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H2 file 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9959B-F4E6-4335-A06F-FE2B706A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743575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117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Persistent local project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14715-22E8-4FF1-811E-B44C9C51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05125"/>
            <a:ext cx="9048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1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CA4743-12EF-4B6C-9287-843D1FE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3625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49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43BFA2-63CF-47C7-95BC-E1AE0F3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C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FB89B-85D9-43F4-8A43-C93331FC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19450"/>
            <a:ext cx="333375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75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190280-82E1-443D-824E-5756F677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57750"/>
            <a:ext cx="333375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75F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B3F2F-3975-4567-AF31-51276E27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Embedded Tomcat hosts Spring MVC and the explicit /servlet/status endpoint.</a:t>
            </a:r>
          </a:p>
        </p:txBody>
      </p:sp>
    </p:spTree>
    <p:extLst>
      <p:ext uri="{BB962C8B-B14F-4D97-AF65-F5344CB8AC3E}">
        <p14:creationId xmlns:p14="http://schemas.microsoft.com/office/powerpoint/2010/main" val="15237119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56CDE9-51CE-4D1E-A814-F2152725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CAREWELL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967CE-541F-4700-929E-D7C2F71F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How the project maps to the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34A4F-7B1E-4E70-AF0C-F7E10D2B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108BB-E2E0-40C2-A259-2AD8B3EE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DDC2A-05FD-49C1-9533-911E8DBF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573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PROJECT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0A5F5-30B5-4A63-B5A5-A5913800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573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176FC-9C15-4F18-82F8-6835165E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D47EF-C5E9-4F58-B83A-8BEAFB78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Problem understanding &amp; solution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8BD31-4D50-47F2-8EB1-8C0586A6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52625"/>
            <a:ext cx="604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Three roles, defined dashboards, booking and care-record workflows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3F017-07EC-4303-84D0-782F4316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526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3CA2E7-9048-4B15-AEB1-D5A97F57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0C548-54A5-4D8C-A70C-081F996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Core Java concepts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B3AB9-9525-43CD-A358-B37E952C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933700"/>
            <a:ext cx="604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Domain classes, enums, records, validation, collections, streams and dependency injection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DB820-2E57-4235-A864-9230530E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3370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C3D2D-5228-4AC6-9F8D-59A673C8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35C43-54E0-4725-B38D-4AB80790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Database integration (JDBC)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29841-96C8-40EB-B2C1-FCA4E3E1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14775"/>
            <a:ext cx="604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H2 persistence through JPA; JdbcTemplate uses parameterized SQL for analytics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AE9625-CDC7-4092-985A-6B8A8C9C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1477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C887B-A228-43F6-81FA-BA2DD935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92DEAF-6A88-4D6E-BB94-C31339F7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Servlets &amp; web integration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C9FE5-21B3-451F-988E-F2E57D45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95850"/>
            <a:ext cx="604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Spring MVC on embedded Tomcat plus a registered PlatformStatusServlet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FD4406-920F-419E-AB6C-0A7C7951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958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B4D11-A1BF-40DE-8F12-1C30ADCD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270807-169B-4C97-96FC-8FD723DD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Rubric coverage is present in the implementation; the evaluator’s scoring still depends on the submitted code and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849444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81182D-2133-4FF4-9552-315E4AF8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CAREWELL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71CFD-B011-4782-BC0B-B7995559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Appointment and consultation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457B3-6E59-43CF-89BC-D95021BB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B5708-E976-43AF-BE69-627C7179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E97F7-1208-4237-97AB-F84B79F5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08674-08F2-4536-8580-C1E9FC2C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Choose a professional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DEA8D-D977-452A-BCB8-72DCA1FC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Browse open future slots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7F0E2-CD02-4B32-9331-11686534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003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6E0FE-267C-4369-A04E-028B9F94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577A4-2C20-4633-816C-7D8D519C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6EB0A-5842-47B6-9CA9-23F2A309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Book a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F75C1-B1B7-458A-8468-6DEFF03E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Appointment is stored with BOOKED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B78B8-541E-44DB-B243-B64E92AA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003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15798-F5AA-4DEB-8549-4734A269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3495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3495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09620-26BD-4342-8A86-A2487B21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670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9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9CF8E-1573-4E10-80AC-4D5F2E41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860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Write consultation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6E6EA-79CB-4202-9693-A1E01BFD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62350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Professional adds advice and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3B0EC-2921-408F-BD61-D60E8D04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0375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E6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AFCAF-5A74-4D17-BD60-F2C25C39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13A97-505A-4A70-A782-CD401283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B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C9F1F-BCA1-46B5-BCC4-8384021F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8607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Review care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D1721-899D-48B3-8205-CD3153C5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62350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Patient sees completed visit and advice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6E065-2B72-4BB9-95EC-DFBE0C29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B4C36-03E2-46F5-8191-385C9704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Access boundaries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5AB6D-04C2-4F63-92B6-FE683157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8382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5382F"/>
                </a:solidFill>
                <a:latin typeface="Arial"/>
                <a:ea typeface="Arial"/>
                <a:cs typeface="Arial"/>
              </a:rPr>
              <a:t>Patients see their records; professionals can access records only for patients with an appointment in their care.</a:t>
            </a:r>
          </a:p>
        </p:txBody>
      </p:sp>
    </p:spTree>
    <p:extLst>
      <p:ext uri="{BB962C8B-B14F-4D97-AF65-F5344CB8AC3E}">
        <p14:creationId xmlns:p14="http://schemas.microsoft.com/office/powerpoint/2010/main" val="714256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2DF19-9345-48EF-B750-3A55F77F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CAREWELL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4BE46-AB17-458E-8085-9E8A4809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Code structure and local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04D22-E026-4056-A359-1DC49197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052D2-CDA4-461A-882F-7940FC21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MODULAR PROJECT LAYOUT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6DCDA-75B8-4B03-B1D4-4DB18D24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backend/src/main/java/.../health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15542-8E8C-4453-A308-CAB8CD1E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Controllers, domain entities, repositories, servlet and seed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D9E5C-D3AB-464B-AF39-DA831923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backend/src/main/resources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8E690-9DD1-4CD4-A470-24958CBA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Spring configuration and H2 settings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4E75A-A470-44F0-A2AF-E645D6AC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frontend/src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439B1-034A-4FD0-93A3-D6DEA77D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React screens, API calls and responsive styling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CD224-AAC4-4BC0-9B9A-31C3FD34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13676-BFA6-4AAB-A456-CF23EA4D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16B5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16B58"/>
                </a:solidFill>
                <a:latin typeface="Arial"/>
                <a:ea typeface="Arial"/>
                <a:cs typeface="Arial"/>
              </a:rPr>
              <a:t>START LOCALLY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A247C-6931-4BDA-8A91-EEE3D51F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24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Backend  ·  Java 21+ / Maven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5DE54A-7ADF-40CA-8A87-4E312F8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241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49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4956"/>
                </a:solidFill>
                <a:latin typeface="Arial"/>
                <a:ea typeface="Arial"/>
                <a:cs typeface="Arial"/>
              </a:rPr>
              <a:t>cd backend</a:t>
            </a:r>
          </a:p>
          <a:p xmlns:a="http://schemas.openxmlformats.org/drawingml/2006/main">
            <a:pPr algn="l">
              <a:defRPr sz="1275" b="0">
                <a:solidFill>
                  <a:srgbClr val="2349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4956"/>
                </a:solidFill>
                <a:latin typeface="Arial"/>
                <a:ea typeface="Arial"/>
                <a:cs typeface="Arial"/>
              </a:rPr>
              <a:t>mvn spring-boot:run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36DF5-FA00-463B-8447-C191BB96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95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382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382F"/>
                </a:solidFill>
                <a:latin typeface="Arial"/>
                <a:ea typeface="Arial"/>
                <a:cs typeface="Arial"/>
              </a:rPr>
              <a:t>Frontend  ·  Node.js 20+ / npm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F9E3E-DE68-4C5F-A6C5-544A882C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957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49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4956"/>
                </a:solidFill>
                <a:latin typeface="Arial"/>
                <a:ea typeface="Arial"/>
                <a:cs typeface="Arial"/>
              </a:rPr>
              <a:t>cd frontend</a:t>
            </a:r>
          </a:p>
          <a:p xmlns:a="http://schemas.openxmlformats.org/drawingml/2006/main">
            <a:pPr algn="l">
              <a:defRPr sz="1275" b="0">
                <a:solidFill>
                  <a:srgbClr val="2349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4956"/>
                </a:solidFill>
                <a:latin typeface="Arial"/>
                <a:ea typeface="Arial"/>
                <a:cs typeface="Arial"/>
              </a:rPr>
              <a:t>npm install</a:t>
            </a:r>
          </a:p>
          <a:p xmlns:a="http://schemas.openxmlformats.org/drawingml/2006/main">
            <a:pPr algn="l">
              <a:defRPr sz="1275" b="0">
                <a:solidFill>
                  <a:srgbClr val="2349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4956"/>
                </a:solidFill>
                <a:latin typeface="Arial"/>
                <a:ea typeface="Arial"/>
                <a:cs typeface="Arial"/>
              </a:rPr>
              <a:t>npm run dev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C78EC-33E9-49C9-A6ED-50A82977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6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66E"/>
                </a:solidFill>
                <a:latin typeface="Arial"/>
                <a:ea typeface="Arial"/>
                <a:cs typeface="Arial"/>
              </a:rPr>
              <a:t>Demo accounts and setup details are in README.md. Local URLs: 8080 (API) · 5173 (web app).</a:t>
            </a:r>
          </a:p>
        </p:txBody>
      </p:sp>
    </p:spTree>
    <p:extLst>
      <p:ext uri="{BB962C8B-B14F-4D97-AF65-F5344CB8AC3E}">
        <p14:creationId xmlns:p14="http://schemas.microsoft.com/office/powerpoint/2010/main" val="61283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2026-10-07T05:57:07.1050000Z</dcterms:created>
  <dcterms:modified xsi:type="dcterms:W3CDTF">2026-10-07T05:57:07.1050000Z</dcterms:modified>
</coreProperties>
</file>